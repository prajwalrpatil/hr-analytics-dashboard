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6" r:id="rId4"/>
  </p:sldMasterIdLst>
  <p:sldIdLst>
    <p:sldId id="256" r:id="rId5"/>
    <p:sldId id="257" r:id="rId6"/>
    <p:sldId id="258" r:id="rId7"/>
    <p:sldId id="265" r:id="rId8"/>
    <p:sldId id="263" r:id="rId9"/>
    <p:sldId id="262" r:id="rId10"/>
    <p:sldId id="261" r:id="rId11"/>
    <p:sldId id="264" r:id="rId12"/>
    <p:sldId id="260" r:id="rId13"/>
    <p:sldId id="259" r:id="rId14"/>
    <p:sldId id="267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3744BD-C8F3-42AE-8BD5-501E5C65786C}">
          <p14:sldIdLst>
            <p14:sldId id="256"/>
            <p14:sldId id="257"/>
            <p14:sldId id="258"/>
            <p14:sldId id="265"/>
            <p14:sldId id="263"/>
            <p14:sldId id="262"/>
            <p14:sldId id="261"/>
            <p14:sldId id="264"/>
            <p14:sldId id="260"/>
            <p14:sldId id="259"/>
            <p14:sldId id="267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400" userDrawn="1">
          <p15:clr>
            <a:srgbClr val="A4A3A4"/>
          </p15:clr>
        </p15:guide>
        <p15:guide id="4" pos="57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D2A5AC-C1BB-4FA6-BB01-CC33404F2BC4}" v="43" dt="2026-06-05T11:24:37.811"/>
    <p1510:client id="{47317FC3-316A-4E59-BB14-5758E022995E}" v="600" dt="2026-06-05T17:54:20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100" d="100"/>
          <a:sy n="100" d="100"/>
        </p:scale>
        <p:origin x="-77" y="-499"/>
      </p:cViewPr>
      <p:guideLst>
        <p:guide pos="3840"/>
        <p:guide orient="horz" pos="2400"/>
        <p:guide pos="57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A76EB9D5-7E1A-4433-8B21-2237CC26FA2C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935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EF837-FEDB-44F2-8FB5-4F56FC548A33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5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EC2AB55-62C0-407E-B706-C907B44B0BFC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549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B33F-FEF5-4E73-A5F9-307689FE77C6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224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5FA4-F0B8-4D71-BC92-932E3A1502F8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14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9F80-C2CE-4D6A-80E4-D3515AD92BC6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09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0E-EF40-477E-B84C-637FC7CE78DB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25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8D63-E026-4E54-B301-C824E1BD14F3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7381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C423185-9573-406A-8068-0AB4F2335019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055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98A19-B9D6-4696-A74D-9FEF900C8B6A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53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5100-39B0-4914-BBD6-34F267582565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66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1F1F1F-529D-951D-8998-9FD228680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F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7C80C7-9901-8D58-5EFA-FDA2F7C04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106" y="-1"/>
            <a:ext cx="8421072" cy="6858000"/>
          </a:xfrm>
          <a:custGeom>
            <a:avLst/>
            <a:gdLst>
              <a:gd name="connsiteX0" fmla="*/ 0 w 8398619"/>
              <a:gd name="connsiteY0" fmla="*/ 0 h 6858000"/>
              <a:gd name="connsiteX1" fmla="*/ 8398619 w 8398619"/>
              <a:gd name="connsiteY1" fmla="*/ 0 h 6858000"/>
              <a:gd name="connsiteX2" fmla="*/ 8398619 w 8398619"/>
              <a:gd name="connsiteY2" fmla="*/ 6858000 h 6858000"/>
              <a:gd name="connsiteX3" fmla="*/ 0 w 8398619"/>
              <a:gd name="connsiteY3" fmla="*/ 6858000 h 6858000"/>
              <a:gd name="connsiteX4" fmla="*/ 0 w 8398619"/>
              <a:gd name="connsiteY4" fmla="*/ 0 h 6858000"/>
              <a:gd name="connsiteX0" fmla="*/ 0 w 8403036"/>
              <a:gd name="connsiteY0" fmla="*/ 0 h 6858000"/>
              <a:gd name="connsiteX1" fmla="*/ 8398619 w 8403036"/>
              <a:gd name="connsiteY1" fmla="*/ 0 h 6858000"/>
              <a:gd name="connsiteX2" fmla="*/ 8398619 w 8403036"/>
              <a:gd name="connsiteY2" fmla="*/ 6858000 h 6858000"/>
              <a:gd name="connsiteX3" fmla="*/ 0 w 8403036"/>
              <a:gd name="connsiteY3" fmla="*/ 6858000 h 6858000"/>
              <a:gd name="connsiteX4" fmla="*/ 0 w 8403036"/>
              <a:gd name="connsiteY4" fmla="*/ 0 h 6858000"/>
              <a:gd name="connsiteX0" fmla="*/ 0 w 8421760"/>
              <a:gd name="connsiteY0" fmla="*/ 0 h 6858000"/>
              <a:gd name="connsiteX1" fmla="*/ 8398619 w 8421760"/>
              <a:gd name="connsiteY1" fmla="*/ 0 h 6858000"/>
              <a:gd name="connsiteX2" fmla="*/ 8419802 w 8421760"/>
              <a:gd name="connsiteY2" fmla="*/ 6858000 h 6858000"/>
              <a:gd name="connsiteX3" fmla="*/ 0 w 8421760"/>
              <a:gd name="connsiteY3" fmla="*/ 6858000 h 6858000"/>
              <a:gd name="connsiteX4" fmla="*/ 0 w 8421760"/>
              <a:gd name="connsiteY4" fmla="*/ 0 h 6858000"/>
              <a:gd name="connsiteX0" fmla="*/ 0 w 8421072"/>
              <a:gd name="connsiteY0" fmla="*/ 0 h 6858000"/>
              <a:gd name="connsiteX1" fmla="*/ 8398619 w 8421072"/>
              <a:gd name="connsiteY1" fmla="*/ 0 h 6858000"/>
              <a:gd name="connsiteX2" fmla="*/ 8419802 w 8421072"/>
              <a:gd name="connsiteY2" fmla="*/ 6858000 h 6858000"/>
              <a:gd name="connsiteX3" fmla="*/ 0 w 8421072"/>
              <a:gd name="connsiteY3" fmla="*/ 6858000 h 6858000"/>
              <a:gd name="connsiteX4" fmla="*/ 0 w 84210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072" h="6858000">
                <a:moveTo>
                  <a:pt x="0" y="0"/>
                </a:moveTo>
                <a:lnTo>
                  <a:pt x="8398619" y="0"/>
                </a:lnTo>
                <a:cubicBezTo>
                  <a:pt x="8377436" y="2261287"/>
                  <a:pt x="8429741" y="4666422"/>
                  <a:pt x="8419802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5CFCDD4-34E8-AC06-3D5E-32D562BE7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85834" y="2229288"/>
            <a:ext cx="842879" cy="8414546"/>
          </a:xfrm>
          <a:custGeom>
            <a:avLst/>
            <a:gdLst>
              <a:gd name="connsiteX0" fmla="*/ 0 w 842879"/>
              <a:gd name="connsiteY0" fmla="*/ 8414546 h 8414546"/>
              <a:gd name="connsiteX1" fmla="*/ 5570 w 842879"/>
              <a:gd name="connsiteY1" fmla="*/ 7654963 h 8414546"/>
              <a:gd name="connsiteX2" fmla="*/ 24941 w 842879"/>
              <a:gd name="connsiteY2" fmla="*/ 4078 h 8414546"/>
              <a:gd name="connsiteX3" fmla="*/ 639284 w 842879"/>
              <a:gd name="connsiteY3" fmla="*/ 0 h 8414546"/>
              <a:gd name="connsiteX4" fmla="*/ 842879 w 842879"/>
              <a:gd name="connsiteY4" fmla="*/ 111 h 8414546"/>
              <a:gd name="connsiteX5" fmla="*/ 842878 w 842879"/>
              <a:gd name="connsiteY5" fmla="*/ 8414546 h 84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2879" h="8414546">
                <a:moveTo>
                  <a:pt x="0" y="8414546"/>
                </a:moveTo>
                <a:lnTo>
                  <a:pt x="5570" y="7654963"/>
                </a:lnTo>
                <a:cubicBezTo>
                  <a:pt x="19055" y="5120132"/>
                  <a:pt x="912" y="2515713"/>
                  <a:pt x="24941" y="4078"/>
                </a:cubicBezTo>
                <a:cubicBezTo>
                  <a:pt x="194402" y="2356"/>
                  <a:pt x="409219" y="577"/>
                  <a:pt x="639284" y="0"/>
                </a:cubicBezTo>
                <a:lnTo>
                  <a:pt x="842879" y="111"/>
                </a:lnTo>
                <a:lnTo>
                  <a:pt x="842878" y="841454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538DF1-F279-6FD3-54B3-F49AECD5C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2804041" y="221724"/>
            <a:ext cx="2812833" cy="8420912"/>
          </a:xfrm>
          <a:custGeom>
            <a:avLst/>
            <a:gdLst>
              <a:gd name="connsiteX0" fmla="*/ 2812026 w 2812833"/>
              <a:gd name="connsiteY0" fmla="*/ 7515587 h 8420912"/>
              <a:gd name="connsiteX1" fmla="*/ 2737038 w 2812833"/>
              <a:gd name="connsiteY1" fmla="*/ 32353 h 8420912"/>
              <a:gd name="connsiteX2" fmla="*/ 78161 w 2812833"/>
              <a:gd name="connsiteY2" fmla="*/ 35255 h 8420912"/>
              <a:gd name="connsiteX3" fmla="*/ 10482 w 2812833"/>
              <a:gd name="connsiteY3" fmla="*/ 7540713 h 8420912"/>
              <a:gd name="connsiteX4" fmla="*/ 37139 w 2812833"/>
              <a:gd name="connsiteY4" fmla="*/ 8420912 h 8420912"/>
              <a:gd name="connsiteX5" fmla="*/ 2802613 w 2812833"/>
              <a:gd name="connsiteY5" fmla="*/ 8420912 h 8420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2833" h="8420912">
                <a:moveTo>
                  <a:pt x="2812026" y="7515587"/>
                </a:moveTo>
                <a:cubicBezTo>
                  <a:pt x="2822175" y="5045078"/>
                  <a:pt x="2733216" y="2526060"/>
                  <a:pt x="2737038" y="32353"/>
                </a:cubicBezTo>
                <a:cubicBezTo>
                  <a:pt x="1850745" y="33321"/>
                  <a:pt x="964454" y="-42841"/>
                  <a:pt x="78161" y="35255"/>
                </a:cubicBezTo>
                <a:cubicBezTo>
                  <a:pt x="80974" y="2508834"/>
                  <a:pt x="-34699" y="5179609"/>
                  <a:pt x="10482" y="7540713"/>
                </a:cubicBezTo>
                <a:lnTo>
                  <a:pt x="37139" y="8420912"/>
                </a:lnTo>
                <a:lnTo>
                  <a:pt x="2802613" y="84209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E14AE4-9B80-2D91-30D5-79C8F731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736189" y="-2736188"/>
            <a:ext cx="2922005" cy="8394383"/>
          </a:xfrm>
          <a:custGeom>
            <a:avLst/>
            <a:gdLst>
              <a:gd name="connsiteX0" fmla="*/ 0 w 2922005"/>
              <a:gd name="connsiteY0" fmla="*/ 8394383 h 8394383"/>
              <a:gd name="connsiteX1" fmla="*/ 0 w 2922005"/>
              <a:gd name="connsiteY1" fmla="*/ 0 h 8394383"/>
              <a:gd name="connsiteX2" fmla="*/ 2829789 w 2922005"/>
              <a:gd name="connsiteY2" fmla="*/ 0 h 8394383"/>
              <a:gd name="connsiteX3" fmla="*/ 2906758 w 2922005"/>
              <a:gd name="connsiteY3" fmla="*/ 7554515 h 8394383"/>
              <a:gd name="connsiteX4" fmla="*/ 2922005 w 2922005"/>
              <a:gd name="connsiteY4" fmla="*/ 8394383 h 839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2005" h="8394383">
                <a:moveTo>
                  <a:pt x="0" y="8394383"/>
                </a:moveTo>
                <a:lnTo>
                  <a:pt x="0" y="0"/>
                </a:lnTo>
                <a:lnTo>
                  <a:pt x="2829789" y="0"/>
                </a:lnTo>
                <a:cubicBezTo>
                  <a:pt x="2924189" y="2274966"/>
                  <a:pt x="2873866" y="4980111"/>
                  <a:pt x="2906758" y="7554515"/>
                </a:cubicBezTo>
                <a:lnTo>
                  <a:pt x="2922005" y="839438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F8DFF4-76F9-31A0-19A9-5C48DBA84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699709" y="-195066"/>
            <a:ext cx="3160696" cy="3823883"/>
          </a:xfrm>
          <a:custGeom>
            <a:avLst/>
            <a:gdLst>
              <a:gd name="connsiteX0" fmla="*/ 0 w 3160696"/>
              <a:gd name="connsiteY0" fmla="*/ 251594 h 3823883"/>
              <a:gd name="connsiteX1" fmla="*/ 19545 w 3160696"/>
              <a:gd name="connsiteY1" fmla="*/ 32798 h 3823883"/>
              <a:gd name="connsiteX2" fmla="*/ 21253 w 3160696"/>
              <a:gd name="connsiteY2" fmla="*/ 0 h 3823883"/>
              <a:gd name="connsiteX3" fmla="*/ 3160696 w 3160696"/>
              <a:gd name="connsiteY3" fmla="*/ 0 h 3823883"/>
              <a:gd name="connsiteX4" fmla="*/ 3127107 w 3160696"/>
              <a:gd name="connsiteY4" fmla="*/ 3785562 h 3823883"/>
              <a:gd name="connsiteX5" fmla="*/ 85393 w 3160696"/>
              <a:gd name="connsiteY5" fmla="*/ 3810651 h 3823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0696" h="3823883">
                <a:moveTo>
                  <a:pt x="0" y="251594"/>
                </a:moveTo>
                <a:cubicBezTo>
                  <a:pt x="18741" y="248115"/>
                  <a:pt x="16523" y="125574"/>
                  <a:pt x="19545" y="32798"/>
                </a:cubicBezTo>
                <a:lnTo>
                  <a:pt x="21253" y="0"/>
                </a:lnTo>
                <a:lnTo>
                  <a:pt x="3160696" y="0"/>
                </a:lnTo>
                <a:lnTo>
                  <a:pt x="3127107" y="3785562"/>
                </a:lnTo>
                <a:cubicBezTo>
                  <a:pt x="2108547" y="3830647"/>
                  <a:pt x="1215662" y="3831666"/>
                  <a:pt x="85393" y="38106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53BFCF5-9D37-8A22-F17B-F82C331AB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995222" y="4679099"/>
            <a:ext cx="594309" cy="3763494"/>
          </a:xfrm>
          <a:custGeom>
            <a:avLst/>
            <a:gdLst>
              <a:gd name="connsiteX0" fmla="*/ 0 w 594309"/>
              <a:gd name="connsiteY0" fmla="*/ 3758993 h 3763494"/>
              <a:gd name="connsiteX1" fmla="*/ 9335 w 594309"/>
              <a:gd name="connsiteY1" fmla="*/ 0 h 3763494"/>
              <a:gd name="connsiteX2" fmla="*/ 594309 w 594309"/>
              <a:gd name="connsiteY2" fmla="*/ 0 h 3763494"/>
              <a:gd name="connsiteX3" fmla="*/ 594309 w 594309"/>
              <a:gd name="connsiteY3" fmla="*/ 3763494 h 3763494"/>
              <a:gd name="connsiteX4" fmla="*/ 528862 w 594309"/>
              <a:gd name="connsiteY4" fmla="*/ 3762655 h 3763494"/>
              <a:gd name="connsiteX5" fmla="*/ 0 w 594309"/>
              <a:gd name="connsiteY5" fmla="*/ 3758993 h 37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309" h="3763494">
                <a:moveTo>
                  <a:pt x="0" y="3758993"/>
                </a:moveTo>
                <a:lnTo>
                  <a:pt x="9335" y="0"/>
                </a:lnTo>
                <a:lnTo>
                  <a:pt x="594309" y="0"/>
                </a:lnTo>
                <a:lnTo>
                  <a:pt x="594309" y="3763494"/>
                </a:lnTo>
                <a:lnTo>
                  <a:pt x="528862" y="3762655"/>
                </a:lnTo>
                <a:cubicBezTo>
                  <a:pt x="353264" y="3760401"/>
                  <a:pt x="177320" y="3758665"/>
                  <a:pt x="0" y="375899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84818A0-64B3-C900-227E-6697BD355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034320" y="2877097"/>
            <a:ext cx="2526851" cy="3806721"/>
          </a:xfrm>
          <a:custGeom>
            <a:avLst/>
            <a:gdLst>
              <a:gd name="connsiteX0" fmla="*/ 9009 w 2024737"/>
              <a:gd name="connsiteY0" fmla="*/ 1206998 h 1206998"/>
              <a:gd name="connsiteX1" fmla="*/ 0 w 2024737"/>
              <a:gd name="connsiteY1" fmla="*/ 0 h 1206998"/>
              <a:gd name="connsiteX2" fmla="*/ 2014447 w 2024737"/>
              <a:gd name="connsiteY2" fmla="*/ 0 h 1206998"/>
              <a:gd name="connsiteX3" fmla="*/ 2024737 w 2024737"/>
              <a:gd name="connsiteY3" fmla="*/ 1143134 h 1206998"/>
              <a:gd name="connsiteX0" fmla="*/ 9009 w 2028993"/>
              <a:gd name="connsiteY0" fmla="*/ 1308367 h 1308367"/>
              <a:gd name="connsiteX1" fmla="*/ 0 w 2028993"/>
              <a:gd name="connsiteY1" fmla="*/ 101369 h 1308367"/>
              <a:gd name="connsiteX2" fmla="*/ 2028993 w 2028993"/>
              <a:gd name="connsiteY2" fmla="*/ 0 h 1308367"/>
              <a:gd name="connsiteX3" fmla="*/ 2024737 w 2028993"/>
              <a:gd name="connsiteY3" fmla="*/ 1244503 h 1308367"/>
              <a:gd name="connsiteX4" fmla="*/ 9009 w 2028993"/>
              <a:gd name="connsiteY4" fmla="*/ 1308367 h 1308367"/>
              <a:gd name="connsiteX0" fmla="*/ 81737 w 2101721"/>
              <a:gd name="connsiteY0" fmla="*/ 1308367 h 1308367"/>
              <a:gd name="connsiteX1" fmla="*/ 0 w 2101721"/>
              <a:gd name="connsiteY1" fmla="*/ 0 h 1308367"/>
              <a:gd name="connsiteX2" fmla="*/ 2101721 w 2101721"/>
              <a:gd name="connsiteY2" fmla="*/ 0 h 1308367"/>
              <a:gd name="connsiteX3" fmla="*/ 2097465 w 2101721"/>
              <a:gd name="connsiteY3" fmla="*/ 1244503 h 1308367"/>
              <a:gd name="connsiteX4" fmla="*/ 81737 w 2101721"/>
              <a:gd name="connsiteY4" fmla="*/ 1308367 h 1308367"/>
              <a:gd name="connsiteX0" fmla="*/ 81737 w 2128000"/>
              <a:gd name="connsiteY0" fmla="*/ 1308367 h 1308367"/>
              <a:gd name="connsiteX1" fmla="*/ 0 w 2128000"/>
              <a:gd name="connsiteY1" fmla="*/ 0 h 1308367"/>
              <a:gd name="connsiteX2" fmla="*/ 2101721 w 2128000"/>
              <a:gd name="connsiteY2" fmla="*/ 0 h 1308367"/>
              <a:gd name="connsiteX3" fmla="*/ 2097465 w 2128000"/>
              <a:gd name="connsiteY3" fmla="*/ 1244503 h 1308367"/>
              <a:gd name="connsiteX4" fmla="*/ 81737 w 2128000"/>
              <a:gd name="connsiteY4" fmla="*/ 1308367 h 1308367"/>
              <a:gd name="connsiteX0" fmla="*/ 81737 w 2167180"/>
              <a:gd name="connsiteY0" fmla="*/ 1308367 h 1308367"/>
              <a:gd name="connsiteX1" fmla="*/ 0 w 2167180"/>
              <a:gd name="connsiteY1" fmla="*/ 0 h 1308367"/>
              <a:gd name="connsiteX2" fmla="*/ 2167180 w 2167180"/>
              <a:gd name="connsiteY2" fmla="*/ 0 h 1308367"/>
              <a:gd name="connsiteX3" fmla="*/ 2097465 w 2167180"/>
              <a:gd name="connsiteY3" fmla="*/ 1244503 h 1308367"/>
              <a:gd name="connsiteX4" fmla="*/ 81737 w 2167180"/>
              <a:gd name="connsiteY4" fmla="*/ 1308367 h 1308367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0 w 2170615"/>
              <a:gd name="connsiteY3" fmla="*/ 1244503 h 1264399"/>
              <a:gd name="connsiteX4" fmla="*/ 0 w 2170615"/>
              <a:gd name="connsiteY4" fmla="*/ 1264399 h 1264399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3 w 2170615"/>
              <a:gd name="connsiteY3" fmla="*/ 1259159 h 1264399"/>
              <a:gd name="connsiteX4" fmla="*/ 0 w 2170615"/>
              <a:gd name="connsiteY4" fmla="*/ 1264399 h 1264399"/>
              <a:gd name="connsiteX0" fmla="*/ 0 w 2170615"/>
              <a:gd name="connsiteY0" fmla="*/ 1264399 h 1266019"/>
              <a:gd name="connsiteX1" fmla="*/ 3435 w 2170615"/>
              <a:gd name="connsiteY1" fmla="*/ 0 h 1266019"/>
              <a:gd name="connsiteX2" fmla="*/ 2170615 w 2170615"/>
              <a:gd name="connsiteY2" fmla="*/ 0 h 1266019"/>
              <a:gd name="connsiteX3" fmla="*/ 2100903 w 2170615"/>
              <a:gd name="connsiteY3" fmla="*/ 1259159 h 1266019"/>
              <a:gd name="connsiteX4" fmla="*/ 0 w 2170615"/>
              <a:gd name="connsiteY4" fmla="*/ 1264399 h 126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0615" h="1266019">
                <a:moveTo>
                  <a:pt x="0" y="1264399"/>
                </a:moveTo>
                <a:lnTo>
                  <a:pt x="3435" y="0"/>
                </a:lnTo>
                <a:lnTo>
                  <a:pt x="2170615" y="0"/>
                </a:lnTo>
                <a:cubicBezTo>
                  <a:pt x="2169196" y="414834"/>
                  <a:pt x="2167782" y="728877"/>
                  <a:pt x="2100903" y="1259159"/>
                </a:cubicBezTo>
                <a:cubicBezTo>
                  <a:pt x="1315430" y="1271897"/>
                  <a:pt x="700301" y="1262652"/>
                  <a:pt x="0" y="126439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6382511" cy="378175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583936" cy="91199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6A65EFB-173C-417D-98F7-5A1345289076}" type="datetime1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77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C5516DA-9D86-4E1E-A623-C11F9F74EB59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3527441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  <p:sldLayoutId id="2147484077" r:id="rId11"/>
    <p:sldLayoutId id="214748407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B3D4B9-7168-A4F8-49FB-7DCB52546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1104730"/>
            <a:ext cx="7434796" cy="1411092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latin typeface="Times New Roman"/>
                <a:cs typeface="Times New Roman"/>
              </a:rPr>
              <a:t>HR Analysis Dashboard</a:t>
            </a:r>
            <a:endParaRPr lang="en-US" sz="400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85721AD-F792-487E-A0B4-DF1E77475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3097832"/>
            <a:ext cx="6914412" cy="2641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Times New Roman"/>
              </a:rPr>
              <a:t>Presented BY: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Times New Roman"/>
            </a:endParaRPr>
          </a:p>
          <a:p>
            <a:pPr algn="ctr"/>
            <a: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Times New Roman"/>
              </a:rPr>
              <a:t>Prajwal r Patil</a:t>
            </a:r>
            <a:endParaRPr lang="en-US" sz="2400" b="1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Times New Roman"/>
            </a:endParaRPr>
          </a:p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Times New Roman"/>
              </a:rPr>
              <a:t>Certified Data Analyst (CDA-jan-05)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Aptos"/>
              <a:cs typeface="Times New Roman"/>
            </a:endParaRPr>
          </a:p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Times New Roman"/>
              </a:rPr>
              <a:t>Register No: CA12202540402</a:t>
            </a: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17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1944-9B95-2041-936C-2E4E23AE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AA555-93E8-7275-CB57-F8028A6A1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Aptos"/>
                <a:ea typeface="+mn-lt"/>
                <a:cs typeface="+mn-lt"/>
              </a:rPr>
              <a:t>HR Analytics is the process of collecting, analyzing, and interpreting workforce data to improve employee management and organizational performance.</a:t>
            </a:r>
            <a:endParaRPr lang="en-US" sz="2000">
              <a:latin typeface="Aptos"/>
            </a:endParaRPr>
          </a:p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Organizations use HR analytics to understand workforce trends, improve hiring strategies, optimize employee distribution, and support business decisions.</a:t>
            </a:r>
            <a:endParaRPr lang="en-US" sz="2000">
              <a:latin typeface="Aptos"/>
            </a:endParaRPr>
          </a:p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This project focuses on analyzing employee data using Power BI to identify workforce patterns, measure HR metrics, and generate insights through interactive dashboards.</a:t>
            </a:r>
            <a:endParaRPr lang="en-US" sz="2000">
              <a:latin typeface="Aptos"/>
            </a:endParaRPr>
          </a:p>
          <a:p>
            <a:pPr marL="0" indent="0">
              <a:buNone/>
            </a:pPr>
            <a:r>
              <a:rPr lang="en-US" sz="2000">
                <a:latin typeface="Aptos"/>
                <a:ea typeface="+mn-lt"/>
                <a:cs typeface="+mn-lt"/>
              </a:rPr>
              <a:t>The analysis helps organizations make data-driven decisions related to workforce planning and employee management.</a:t>
            </a:r>
            <a:endParaRPr lang="en-US" sz="2000">
              <a:latin typeface="Aptos"/>
            </a:endParaRPr>
          </a:p>
          <a:p>
            <a:endParaRPr lang="en-US" sz="20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19154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0684-8599-3082-5D20-AA264EEB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Times New Roman"/>
                <a:cs typeface="Times New Roman"/>
              </a:rPr>
              <a:t>Project Overview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910C-62B7-A77A-514A-283FC4470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itchFamily="18" charset="0"/>
              <a:buChar char="•"/>
            </a:pPr>
            <a:r>
              <a:rPr lang="en-US" sz="2000" dirty="0">
                <a:latin typeface="Aptos"/>
              </a:rPr>
              <a:t>The</a:t>
            </a:r>
            <a:r>
              <a:rPr lang="en-US" sz="2000" dirty="0">
                <a:latin typeface="Aptos"/>
                <a:ea typeface="+mn-lt"/>
                <a:cs typeface="+mn-lt"/>
              </a:rPr>
              <a:t> HR Analytics Dashboard project aims to analyze employee data and identify factors affecting workforce distribution and organizational performance.</a:t>
            </a:r>
            <a:endParaRPr lang="en-US" sz="2000">
              <a:latin typeface="Aptos"/>
            </a:endParaRPr>
          </a:p>
          <a:p>
            <a:pPr marL="342900" indent="-342900">
              <a:buClr>
                <a:srgbClr val="262626"/>
              </a:buClr>
              <a:buFont typeface="Arial" pitchFamily="18" charset="0"/>
              <a:buChar char="•"/>
            </a:pPr>
            <a:r>
              <a:rPr lang="en-US" sz="2000">
                <a:latin typeface="Aptos"/>
                <a:ea typeface="+mn-lt"/>
                <a:cs typeface="+mn-lt"/>
              </a:rPr>
              <a:t>This project uses Power BI to transform raw HR data into meaningful visual insights using dashboards and KPIs.</a:t>
            </a:r>
            <a:endParaRPr lang="en-US" sz="2000">
              <a:latin typeface="Aptos"/>
            </a:endParaRPr>
          </a:p>
          <a:p>
            <a:pPr marL="342900" indent="-342900">
              <a:buClr>
                <a:srgbClr val="262626"/>
              </a:buClr>
              <a:buFont typeface="Arial" pitchFamily="18" charset="0"/>
              <a:buChar char="•"/>
            </a:pPr>
            <a:r>
              <a:rPr lang="en-US" sz="2000" dirty="0">
                <a:latin typeface="Aptos"/>
                <a:ea typeface="+mn-lt"/>
                <a:cs typeface="+mn-lt"/>
              </a:rPr>
              <a:t>The dashboard helps monitor workforce trends, hiring patterns, employee demographics, and work location distribution.</a:t>
            </a:r>
            <a:endParaRPr lang="en-US" sz="2000" dirty="0">
              <a:latin typeface="Aptos"/>
            </a:endParaRPr>
          </a:p>
          <a:p>
            <a:pPr>
              <a:buClr>
                <a:srgbClr val="262626"/>
              </a:buClr>
              <a:buFont typeface="Arial" pitchFamily="18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0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B6CBE-D6EE-C1D9-63D2-24199B7B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62" y="630499"/>
            <a:ext cx="8715829" cy="1383695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Times New Roman"/>
                <a:cs typeface="Times New Roman"/>
              </a:rPr>
              <a:t>Objectives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9937F-82A9-17AF-B6AA-D8969595C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562" y="2018453"/>
            <a:ext cx="8715828" cy="391982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 • Analyze workforce trends and employee patterns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>
                <a:latin typeface="Aptos"/>
                <a:ea typeface="+mn-lt"/>
                <a:cs typeface="+mn-lt"/>
              </a:rPr>
              <a:t> • Create an interactive dashboard using Power BI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>
                <a:latin typeface="Aptos"/>
                <a:ea typeface="+mn-lt"/>
                <a:cs typeface="+mn-lt"/>
              </a:rPr>
              <a:t> • Monitor employee distribution and HR metrics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>
                <a:latin typeface="Aptos"/>
                <a:ea typeface="+mn-lt"/>
                <a:cs typeface="+mn-lt"/>
              </a:rPr>
              <a:t> • Identify workforce demographic patterns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>
                <a:latin typeface="Aptos"/>
                <a:ea typeface="+mn-lt"/>
                <a:cs typeface="+mn-lt"/>
              </a:rPr>
              <a:t> • Generate meaningful insights using visualization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>
                <a:latin typeface="Aptos"/>
                <a:ea typeface="+mn-lt"/>
                <a:cs typeface="+mn-lt"/>
              </a:rPr>
              <a:t> • Support HR decision-making through analytics</a:t>
            </a:r>
            <a:endParaRPr lang="en-US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88350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7D9E-83B8-CA02-7649-DC5CD3A3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Times New Roman"/>
                <a:cs typeface="Times New Roman"/>
              </a:rPr>
              <a:t>Motivation for Choosing the Dataset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AA3E8-2559-E0AF-05D6-1859413F7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054740"/>
            <a:ext cx="4754880" cy="41360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prstClr val="black">
                  <a:lumMod val="85000"/>
                  <a:lumOff val="15000"/>
                </a:prstClr>
              </a:buClr>
              <a:buNone/>
            </a:pPr>
            <a:r>
              <a:rPr lang="en-US" sz="2000" b="1">
                <a:latin typeface="Aptos"/>
              </a:rPr>
              <a:t>Why This Dataset?</a:t>
            </a:r>
          </a:p>
          <a:p>
            <a:pPr marL="457200" indent="-457200">
              <a:buClr>
                <a:srgbClr val="262626"/>
              </a:buClr>
              <a:buAutoNum type="arabicPeriod"/>
            </a:pPr>
            <a:r>
              <a:rPr lang="en-US" sz="2000" dirty="0">
                <a:latin typeface="Aptos"/>
                <a:ea typeface="+mn-lt"/>
                <a:cs typeface="+mn-lt"/>
              </a:rPr>
              <a:t>Human Resource management plays an important role in organizational success and workforce productivity.</a:t>
            </a:r>
            <a:endParaRPr lang="en-US" sz="2000">
              <a:latin typeface="Aptos"/>
            </a:endParaRPr>
          </a:p>
          <a:p>
            <a:pPr marL="457200" indent="-457200">
              <a:buClr>
                <a:srgbClr val="262626"/>
              </a:buClr>
              <a:buAutoNum type="arabicPeriod"/>
            </a:pPr>
            <a:r>
              <a:rPr lang="en-US" sz="2000">
                <a:latin typeface="Aptos"/>
                <a:ea typeface="+mn-lt"/>
                <a:cs typeface="+mn-lt"/>
              </a:rPr>
              <a:t>This dataset was chosen to understand employee demographics, workforce distribution, hiring trends, and diversity metrics.</a:t>
            </a:r>
            <a:endParaRPr lang="en-US" sz="2000">
              <a:latin typeface="Aptos"/>
            </a:endParaRPr>
          </a:p>
          <a:p>
            <a:pPr marL="457200" indent="-457200">
              <a:buClr>
                <a:srgbClr val="262626"/>
              </a:buClr>
              <a:buAutoNum type="arabicPeriod"/>
            </a:pPr>
            <a:r>
              <a:rPr lang="en-US" sz="2000">
                <a:latin typeface="Aptos"/>
                <a:ea typeface="+mn-lt"/>
                <a:cs typeface="+mn-lt"/>
              </a:rPr>
              <a:t>Working with this dataset provides real-world experience in HR analytics, dashboard development, and business intelligence.</a:t>
            </a:r>
            <a:endParaRPr lang="en-US" sz="2000">
              <a:latin typeface="Aptos"/>
            </a:endParaRPr>
          </a:p>
          <a:p>
            <a:pPr marL="0" indent="0">
              <a:buClr>
                <a:srgbClr val="262626"/>
              </a:buClr>
              <a:buNone/>
            </a:pPr>
            <a:endParaRPr lang="en-US" sz="2000" dirty="0">
              <a:latin typeface="Apto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144C5-119E-4C50-EEDF-52129E66C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365" y="2007803"/>
            <a:ext cx="5372096" cy="41637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262626"/>
              </a:buClr>
              <a:buNone/>
            </a:pPr>
            <a:r>
              <a:rPr lang="en-US" sz="2000" b="1">
                <a:latin typeface="Aptos"/>
              </a:rPr>
              <a:t>Reasons for Selecting This Dataset:</a:t>
            </a:r>
          </a:p>
          <a:p>
            <a:pPr marL="0" indent="0">
              <a:lnSpc>
                <a:spcPct val="150000"/>
              </a:lnSpc>
              <a:buClr>
                <a:srgbClr val="262626"/>
              </a:buClr>
              <a:buNone/>
            </a:pPr>
            <a:r>
              <a:rPr lang="en-US" sz="2000" dirty="0">
                <a:latin typeface="Aptos"/>
              </a:rPr>
              <a:t>• Helps understand workforce distribution</a:t>
            </a:r>
            <a:br>
              <a:rPr lang="en-US" sz="2000" dirty="0">
                <a:latin typeface="Aptos"/>
              </a:rPr>
            </a:br>
            <a:r>
              <a:rPr lang="en-US" sz="2000" dirty="0">
                <a:latin typeface="Aptos"/>
              </a:rPr>
              <a:t> • Useful for analyzing hiring trends</a:t>
            </a:r>
            <a:br>
              <a:rPr lang="en-US" sz="2000" dirty="0">
                <a:latin typeface="Aptos"/>
              </a:rPr>
            </a:br>
            <a:r>
              <a:rPr lang="en-US" sz="2000" dirty="0">
                <a:latin typeface="Aptos"/>
              </a:rPr>
              <a:t> • Provides real-world HR problem-solving                </a:t>
            </a:r>
            <a:r>
              <a:rPr lang="en-US" sz="2000">
                <a:latin typeface="Aptos"/>
              </a:rPr>
              <a:t>    experience</a:t>
            </a:r>
            <a:br>
              <a:rPr lang="en-US" sz="2000" dirty="0">
                <a:latin typeface="Aptos"/>
              </a:rPr>
            </a:br>
            <a:r>
              <a:rPr lang="en-US" sz="2000" dirty="0">
                <a:latin typeface="Aptos"/>
              </a:rPr>
              <a:t> • Improves dashboard development skills</a:t>
            </a:r>
            <a:br>
              <a:rPr lang="en-US" sz="2000" dirty="0">
                <a:latin typeface="Aptos"/>
              </a:rPr>
            </a:br>
            <a:r>
              <a:rPr lang="en-US" sz="2000" dirty="0">
                <a:latin typeface="Aptos"/>
              </a:rPr>
              <a:t> • Supports data-driven HR decisions</a:t>
            </a:r>
          </a:p>
        </p:txBody>
      </p:sp>
    </p:spTree>
    <p:extLst>
      <p:ext uri="{BB962C8B-B14F-4D97-AF65-F5344CB8AC3E}">
        <p14:creationId xmlns:p14="http://schemas.microsoft.com/office/powerpoint/2010/main" val="349738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51B95-5E38-D578-6E8C-385EF13D6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472" y="528863"/>
            <a:ext cx="10058400" cy="89392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Times New Roman"/>
                <a:cs typeface="Times New Roman"/>
              </a:rPr>
              <a:t>Dashboard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8A3BFE-46ED-B830-B2D8-09BA0FFF9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360" y="1418612"/>
            <a:ext cx="10627279" cy="478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672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F7936-5F30-DD29-3C6E-088702ED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Times New Roman"/>
                <a:cs typeface="Times New Roman"/>
              </a:rPr>
              <a:t>Methodology / Project Process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168E8-A3DF-D4E1-5FBF-8B7EC967A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046255"/>
            <a:ext cx="4754880" cy="41812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prstClr val="black">
                  <a:lumMod val="85000"/>
                  <a:lumOff val="15000"/>
                </a:prstClr>
              </a:buClr>
              <a:buNone/>
            </a:pPr>
            <a:r>
              <a:rPr lang="en-US" sz="2000" b="1">
                <a:latin typeface="Aptos"/>
                <a:cs typeface="Times New Roman"/>
              </a:rPr>
              <a:t>Step 1: Data Collection</a:t>
            </a:r>
            <a:endParaRPr lang="en-US" sz="2000" b="1" dirty="0">
              <a:latin typeface="Aptos"/>
              <a:cs typeface="Times New Roman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000">
                <a:latin typeface="Aptos"/>
                <a:ea typeface="+mn-lt"/>
                <a:cs typeface="Times New Roman"/>
              </a:rPr>
              <a:t>• Imported HR dataset into Power BI</a:t>
            </a:r>
            <a:endParaRPr lang="en-US" sz="2000">
              <a:latin typeface="Aptos"/>
              <a:cs typeface="Times New Roman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000" b="1">
                <a:latin typeface="Aptos"/>
                <a:cs typeface="Times New Roman"/>
              </a:rPr>
              <a:t>Step 2: Data Cleaning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en-US" sz="2000">
                <a:latin typeface="Aptos"/>
                <a:ea typeface="+mn-lt"/>
                <a:cs typeface="Times New Roman"/>
              </a:rPr>
              <a:t>• Removed null values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Times New Roman"/>
              </a:rPr>
              <a:t> • Corrected date formats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Times New Roman"/>
              </a:rPr>
              <a:t> • Fixed data type issues</a:t>
            </a:r>
            <a:endParaRPr lang="en-US" sz="2000">
              <a:latin typeface="Aptos"/>
              <a:cs typeface="Times New Roman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000" b="1">
                <a:latin typeface="Aptos"/>
                <a:cs typeface="Times New Roman"/>
              </a:rPr>
              <a:t>Step 3: Data Transformation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en-US" sz="2000">
                <a:latin typeface="Aptos"/>
                <a:ea typeface="+mn-lt"/>
                <a:cs typeface="Times New Roman"/>
              </a:rPr>
              <a:t>• Used Power Query for preprocessing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Times New Roman"/>
              </a:rPr>
              <a:t> • Created calculated columns and measures</a:t>
            </a:r>
            <a:endParaRPr lang="en-US" sz="2000">
              <a:latin typeface="Aptos"/>
              <a:cs typeface="Times New Roman"/>
            </a:endParaRPr>
          </a:p>
          <a:p>
            <a:pPr>
              <a:buClr>
                <a:srgbClr val="262626"/>
              </a:buClr>
            </a:pPr>
            <a:endParaRPr lang="en-US" dirty="0">
              <a:cs typeface="Times New Roman"/>
            </a:endParaRPr>
          </a:p>
          <a:p>
            <a:pPr>
              <a:buClr>
                <a:srgbClr val="262626"/>
              </a:buClr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22FF2-0E30-F1BE-B9E4-7D51BAAAA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365" y="2012136"/>
            <a:ext cx="5164312" cy="42039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>
                <a:latin typeface="Aptos"/>
              </a:rPr>
              <a:t>Step 4: KPI Creation</a:t>
            </a:r>
            <a:endParaRPr lang="en-US" sz="2000" b="1" dirty="0">
              <a:latin typeface="Aptos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000">
                <a:latin typeface="Aptos"/>
              </a:rPr>
              <a:t>• Total Employees</a:t>
            </a:r>
            <a:br>
              <a:rPr lang="en-US" sz="2000" dirty="0">
                <a:latin typeface="Aptos"/>
              </a:rPr>
            </a:br>
            <a:r>
              <a:rPr lang="en-US" sz="2000">
                <a:latin typeface="Aptos"/>
              </a:rPr>
              <a:t> • Average Age</a:t>
            </a:r>
            <a:br>
              <a:rPr lang="en-US" sz="2000" dirty="0">
                <a:latin typeface="Aptos"/>
              </a:rPr>
            </a:br>
            <a:r>
              <a:rPr lang="en-US" sz="2000">
                <a:latin typeface="Aptos"/>
              </a:rPr>
              <a:t> • Remote Employees %</a:t>
            </a:r>
            <a:br>
              <a:rPr lang="en-US" sz="2000" dirty="0">
                <a:latin typeface="Aptos"/>
              </a:rPr>
            </a:br>
            <a:r>
              <a:rPr lang="en-US" sz="2000">
                <a:latin typeface="Aptos"/>
              </a:rPr>
              <a:t> • HQ Employees %</a:t>
            </a:r>
            <a:endParaRPr lang="en-US" sz="2000" dirty="0">
              <a:latin typeface="Aptos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000" b="1">
                <a:latin typeface="Aptos"/>
              </a:rPr>
              <a:t>Step 5: Dashboard Development</a:t>
            </a:r>
            <a:endParaRPr lang="en-US" sz="2000" b="1" dirty="0">
              <a:latin typeface="Aptos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000">
                <a:latin typeface="Aptos"/>
              </a:rPr>
              <a:t>• Created visualizations and interactive reports</a:t>
            </a:r>
            <a:endParaRPr lang="en-US" sz="2000" dirty="0">
              <a:latin typeface="Aptos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000" b="1">
                <a:latin typeface="Aptos"/>
              </a:rPr>
              <a:t>Step 6: Analysis &amp; Insights</a:t>
            </a:r>
            <a:endParaRPr lang="en-US" sz="2000" b="1" dirty="0">
              <a:latin typeface="Aptos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000" dirty="0">
                <a:latin typeface="Aptos"/>
              </a:rPr>
              <a:t>• Identified workforce trends and generated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319178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0661-4162-FD90-F445-6FC66E9B7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Times New Roman"/>
                <a:ea typeface="+mj-lt"/>
                <a:cs typeface="Times New Roman"/>
              </a:rPr>
              <a:t>Dashboard Overview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378ED-F052-4574-919B-C52808E09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The dashboard was developed using Power BI to visualize workforce metrics and employee patterns. Multiple charts and KPI cards were used to provide meaningful insights and improve HR decision-making.</a:t>
            </a:r>
            <a:endParaRPr lang="en-US" sz="2000">
              <a:latin typeface="Aptos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000" b="1">
                <a:latin typeface="Aptos"/>
              </a:rPr>
              <a:t>Dashboard Components: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en-US" sz="2000">
                <a:latin typeface="Aptos"/>
                <a:ea typeface="+mn-lt"/>
                <a:cs typeface="+mn-lt"/>
              </a:rPr>
              <a:t>• KPI Cards for workforce metrics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 • Line Chart for hiring trends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 • Donut Chart for gender distribution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 • Bar Charts for department analysis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 • Map Visualization for state-wise employee distribution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 • Interactive filters and slicers</a:t>
            </a:r>
            <a:endParaRPr lang="en-US" sz="2000">
              <a:latin typeface="Aptos"/>
            </a:endParaRPr>
          </a:p>
          <a:p>
            <a:pPr>
              <a:buClr>
                <a:srgbClr val="26262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770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D77DE-5C7F-A916-2A1C-C0551BF8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Key Insights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F86A0-4B43-32D6-7258-9C1C337BA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 • Most employees belong to specific departments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>
                <a:latin typeface="Aptos"/>
                <a:ea typeface="+mn-lt"/>
                <a:cs typeface="+mn-lt"/>
              </a:rPr>
              <a:t> • Hiring trends changed across years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>
                <a:latin typeface="Aptos"/>
                <a:ea typeface="+mn-lt"/>
                <a:cs typeface="+mn-lt"/>
              </a:rPr>
              <a:t> • Remote workforce represents a significant percentage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>
                <a:latin typeface="Aptos"/>
                <a:ea typeface="+mn-lt"/>
                <a:cs typeface="+mn-lt"/>
              </a:rPr>
              <a:t> • Some states contribute more employees than others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>
                <a:latin typeface="Aptos"/>
                <a:ea typeface="+mn-lt"/>
                <a:cs typeface="+mn-lt"/>
              </a:rPr>
              <a:t> • Workforce diversity varies across categories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 dirty="0">
                <a:latin typeface="Aptos"/>
                <a:ea typeface="+mn-lt"/>
                <a:cs typeface="+mn-lt"/>
              </a:rPr>
              <a:t> • Employee distribution is uneven across departments</a:t>
            </a:r>
            <a:endParaRPr lang="en-US" sz="2000" dirty="0">
              <a:latin typeface="Aptos"/>
            </a:endParaRPr>
          </a:p>
          <a:p>
            <a:pPr>
              <a:buClr>
                <a:srgbClr val="262626"/>
              </a:buClr>
            </a:pPr>
            <a:endParaRPr lang="en-US" sz="20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863081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975D-F47C-EF4D-777B-B1051F96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Times New Roman"/>
                <a:cs typeface="Times New Roman"/>
              </a:rPr>
              <a:t>Recommendations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1CD5A-46F9-308E-9287-0B5E5C937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Aptos"/>
                <a:ea typeface="+mn-lt"/>
                <a:cs typeface="+mn-lt"/>
              </a:rPr>
              <a:t> • Improve workforce planning strategies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 • Enhance diversity initiatives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 • Balance employee distribution across departments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 • Strengthen remote work policies</a:t>
            </a:r>
            <a:br>
              <a:rPr lang="en-US" sz="2000" dirty="0">
                <a:latin typeface="Aptos"/>
                <a:ea typeface="+mn-lt"/>
                <a:cs typeface="+mn-lt"/>
              </a:rPr>
            </a:br>
            <a:r>
              <a:rPr lang="en-US" sz="2000">
                <a:latin typeface="Aptos"/>
                <a:ea typeface="+mn-lt"/>
                <a:cs typeface="+mn-lt"/>
              </a:rPr>
              <a:t> • Use dashboard insights for better HR decisions</a:t>
            </a:r>
            <a:endParaRPr lang="en-US" sz="2000">
              <a:latin typeface="Aptos"/>
            </a:endParaRPr>
          </a:p>
          <a:p>
            <a:pPr>
              <a:buClr>
                <a:srgbClr val="26262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94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9FEB9-C40B-AF30-CD7E-6FDB64807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Times New Roman"/>
                <a:ea typeface="+mj-lt"/>
                <a:cs typeface="Times New Roman"/>
              </a:rPr>
              <a:t>Conclusion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37515-5A6C-8D6B-544F-631418555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Aptos"/>
                <a:ea typeface="+mn-lt"/>
                <a:cs typeface="+mn-lt"/>
              </a:rPr>
              <a:t>The HR Analytics Dashboard successfully transformed raw employee data into meaningful insights using Power BI.</a:t>
            </a:r>
            <a:endParaRPr lang="en-US" sz="2000">
              <a:latin typeface="Aptos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000" dirty="0">
                <a:latin typeface="Aptos"/>
                <a:ea typeface="+mn-lt"/>
                <a:cs typeface="+mn-lt"/>
              </a:rPr>
              <a:t>The project helped analyze workforce trends, identify HR patterns, and support data-driven decision-making for improving workforce management.</a:t>
            </a:r>
            <a:endParaRPr lang="en-US" sz="2000" dirty="0">
              <a:latin typeface="Aptos"/>
            </a:endParaRPr>
          </a:p>
          <a:p>
            <a:pPr>
              <a:buClr>
                <a:srgbClr val="26262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821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23EFE6-2C66-0347-AB74-61AE268C4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35685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/>
                <a:cs typeface="Times New Roman"/>
              </a:rPr>
              <a:t>Thank You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8926834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BC688CB-CD41-412D-8E6B-F14E13D0EA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432528-3B37-4D02-824C-AED8B98277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0FEC98-8858-408D-B2FD-DF30EA7BAFC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Savon</vt:lpstr>
      <vt:lpstr>HR Analysis Dashboard</vt:lpstr>
      <vt:lpstr>Introduction</vt:lpstr>
      <vt:lpstr>Project Overview</vt:lpstr>
      <vt:lpstr>Objectives</vt:lpstr>
      <vt:lpstr>Motivation for Choosing the Dataset</vt:lpstr>
      <vt:lpstr>Dashboard</vt:lpstr>
      <vt:lpstr>Methodology / Project Process</vt:lpstr>
      <vt:lpstr>Dashboard Overview</vt:lpstr>
      <vt:lpstr>Key Insights</vt:lpstr>
      <vt:lpstr>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331</cp:revision>
  <dcterms:created xsi:type="dcterms:W3CDTF">2026-06-05T11:20:57Z</dcterms:created>
  <dcterms:modified xsi:type="dcterms:W3CDTF">2026-06-05T17:54:38Z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